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249867a6f04d74" /><Relationship Type="http://schemas.openxmlformats.org/officeDocument/2006/relationships/extended-properties" Target="/docProps/app.xml" Id="R4e0e6b5b2b7843cc" /><Relationship Type="http://schemas.openxmlformats.org/officeDocument/2006/relationships/officeDocument" Target="/ppt/presentation.xml" Id="R74eaf39acbb449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5d5969dc374712"/>
  </p:sldMasterIdLst>
  <p:notesMasterIdLst>
    <p:notesMasterId xmlns:r="http://schemas.openxmlformats.org/officeDocument/2006/relationships" r:id="R9d630bfa8f604f2b"/>
  </p:notesMasterIdLst>
  <p:sldIdLst>
    <p:sldId xmlns:r="http://schemas.openxmlformats.org/officeDocument/2006/relationships" id="256" r:id="Rb21cd9af0071401c"/>
    <p:sldId xmlns:r="http://schemas.openxmlformats.org/officeDocument/2006/relationships" id="257" r:id="Raea14f06133f478b"/>
    <p:sldId xmlns:r="http://schemas.openxmlformats.org/officeDocument/2006/relationships" id="258" r:id="R99fcf2ef78e64616"/>
    <p:sldId xmlns:r="http://schemas.openxmlformats.org/officeDocument/2006/relationships" id="259" r:id="Rd496a47c72804d00"/>
    <p:sldId xmlns:r="http://schemas.openxmlformats.org/officeDocument/2006/relationships" id="260" r:id="R1695040946c54e9e"/>
    <p:sldId xmlns:r="http://schemas.openxmlformats.org/officeDocument/2006/relationships" id="261" r:id="R6cd926b0a246472e"/>
    <p:sldId xmlns:r="http://schemas.openxmlformats.org/officeDocument/2006/relationships" id="262" r:id="Ra6f8ae04221248db"/>
    <p:sldId xmlns:r="http://schemas.openxmlformats.org/officeDocument/2006/relationships" id="263" r:id="R2a3fb568eca94e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ad9bafc6144e7b" /><Relationship Type="http://schemas.openxmlformats.org/officeDocument/2006/relationships/slideMaster" Target="/ppt/slideMasters/slideMaster1.xml" Id="Rc75d5969dc374712" /><Relationship Type="http://schemas.openxmlformats.org/officeDocument/2006/relationships/notesMaster" Target="/ppt/notesMasters/notesMaster1.xml" Id="R9d630bfa8f604f2b" /><Relationship Type="http://schemas.openxmlformats.org/officeDocument/2006/relationships/presProps" Target="/ppt/presProps.xml" Id="Rec15357612de4abd" /><Relationship Type="http://schemas.openxmlformats.org/officeDocument/2006/relationships/tableStyles" Target="/ppt/tableStyles.xml" Id="Rc808e17a4fcc4d21" /><Relationship Type="http://schemas.openxmlformats.org/officeDocument/2006/relationships/slide" Target="/ppt/slides/slide1.xml" Id="Rb21cd9af0071401c" /><Relationship Type="http://schemas.openxmlformats.org/officeDocument/2006/relationships/slide" Target="/ppt/slides/slide2.xml" Id="Raea14f06133f478b" /><Relationship Type="http://schemas.openxmlformats.org/officeDocument/2006/relationships/slide" Target="/ppt/slides/slide3.xml" Id="R99fcf2ef78e64616" /><Relationship Type="http://schemas.openxmlformats.org/officeDocument/2006/relationships/slide" Target="/ppt/slides/slide4.xml" Id="Rd496a47c72804d00" /><Relationship Type="http://schemas.openxmlformats.org/officeDocument/2006/relationships/slide" Target="/ppt/slides/slide5.xml" Id="R1695040946c54e9e" /><Relationship Type="http://schemas.openxmlformats.org/officeDocument/2006/relationships/slide" Target="/ppt/slides/slide6.xml" Id="R6cd926b0a246472e" /><Relationship Type="http://schemas.openxmlformats.org/officeDocument/2006/relationships/slide" Target="/ppt/slides/slide7.xml" Id="Ra6f8ae04221248db" /><Relationship Type="http://schemas.openxmlformats.org/officeDocument/2006/relationships/slide" Target="/ppt/slides/slide8.xml" Id="R2a3fb568eca94e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43b8fec47543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2b9e2a1f644a34" /><Relationship Type="http://schemas.openxmlformats.org/officeDocument/2006/relationships/notesMaster" Target="/ppt/notesMasters/notesMaster1.xml" Id="Rf82746fa48a64b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fc530e351e4b1f" /><Relationship Type="http://schemas.openxmlformats.org/officeDocument/2006/relationships/notesMaster" Target="/ppt/notesMasters/notesMaster1.xml" Id="Rc5c571398c274d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1355110f31453f" /><Relationship Type="http://schemas.openxmlformats.org/officeDocument/2006/relationships/notesMaster" Target="/ppt/notesMasters/notesMaster1.xml" Id="R11a9affd89784a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5ae95429504834" /><Relationship Type="http://schemas.openxmlformats.org/officeDocument/2006/relationships/notesMaster" Target="/ppt/notesMasters/notesMaster1.xml" Id="R77dd775182564d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6b14f4d96f4e58" /><Relationship Type="http://schemas.openxmlformats.org/officeDocument/2006/relationships/notesMaster" Target="/ppt/notesMasters/notesMaster1.xml" Id="Rb8d96e106f884a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45be1f7b8c4bb4" /><Relationship Type="http://schemas.openxmlformats.org/officeDocument/2006/relationships/notesMaster" Target="/ppt/notesMasters/notesMaster1.xml" Id="R059d0bcb99b148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cd73ac825d49a9" /><Relationship Type="http://schemas.openxmlformats.org/officeDocument/2006/relationships/notesMaster" Target="/ppt/notesMasters/notesMaster1.xml" Id="R4d436c08d4dd4e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9e8b58bfe744e9" /><Relationship Type="http://schemas.openxmlformats.org/officeDocument/2006/relationships/notesMaster" Target="/ppt/notesMasters/notesMaster1.xml" Id="Rb28e14020be145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decision: can planned work proceed safely and defensibly?</a:t>
            </a:r>
          </a:p>
          <a:p xmlns:a="http://schemas.openxmlformats.org/drawingml/2006/main">
            <a:r>
              <a:t>Position ORI as decision support. Qualified personnel retain final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docs/PRODUCTION_HYPOTHESIS.md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retrieval with readiness reasoning. The customer outcome is faster evidence review with explicit uncertainty.</a:t>
            </a:r>
          </a:p>
          <a:p xmlns:a="http://schemas.openxmlformats.org/drawingml/2006/main">
            <a:r>
              <a:t>Emphasize that ORI does not authorize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docs/PRODUCTION_HYPOTHESIS.md</a:t>
            </a:r>
          </a:p>
          <a:p xmlns:a="http://schemas.openxmlformats.org/drawingml/2006/main">
            <a:r>
              <a:t>- docs/DEFINITION_OF_DONE.md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here and run the live demo using the example question.</a:t>
            </a:r>
          </a:p>
          <a:p xmlns:a="http://schemas.openxmlformats.org/drawingml/2006/main">
            <a:r>
              <a:t>Show status first, then citations, conflicts, and evidence gaps. Expand one retrieved chunk only if asked.</a:t>
            </a:r>
          </a:p>
          <a:p xmlns:a="http://schemas.openxmlformats.org/drawingml/2006/main">
            <a:r>
              <a:t>Observed reference run on 2026-08-01: 24.9 seconds end to end, 13 retrieved chunks, 6 of 8 exact citations 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docs/INTERVIEW_GUIDE.md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design keeps retrieval, generation, and deterministic validation independently testable.</a:t>
            </a:r>
          </a:p>
          <a:p xmlns:a="http://schemas.openxmlformats.org/drawingml/2006/main">
            <a:r>
              <a:t>New ingests use domain:corpus vector namespaces; a migration fallback keeps the current demo corpus readable.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src/core/ingestion/pipeline.ts</a:t>
            </a:r>
          </a:p>
          <a:p xmlns:a="http://schemas.openxmlformats.org/drawingml/2006/main">
            <a:r>
              <a:t>- src/core/retrieval/retrieve.ts</a:t>
            </a:r>
          </a:p>
          <a:p xmlns:a="http://schemas.openxmlformats.org/drawingml/2006/main">
            <a:r>
              <a:t>- src/core/generation/generate.ts</a:t>
            </a:r>
          </a:p>
          <a:p xmlns:a="http://schemas.openxmlformats.org/drawingml/2006/main">
            <a:r>
              <a:t>- https://docs.mistral.ai/studio-api/document-processing/basic_ocr</a:t>
            </a:r>
          </a:p>
          <a:p xmlns:a="http://schemas.openxmlformats.org/drawingml/2006/main">
            <a:r>
              <a:t>- https://docs.mistral.ai/resources/cookbooks/mistral-embeddings-embeddings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failure that drove the hardening: the prior model hit the token limit after 54 seconds and produced truncated JSON.</a:t>
            </a:r>
          </a:p>
          <a:p xmlns:a="http://schemas.openxmlformats.org/drawingml/2006/main">
            <a:r>
              <a:t>The fix uses Mistral Medium 3.5, a strict bounded JSON schema, shorter answers, and explicit finish-reason handling.</a:t>
            </a:r>
          </a:p>
          <a:p xmlns:a="http://schemas.openxmlformats.org/drawingml/2006/main">
            <a:r>
              <a:t>Do not present the 6/8 citation figure as claim coverage; it is exact quote validation for model-selected citations.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docs/INTERVIEW_GUIDE.md</a:t>
            </a:r>
          </a:p>
          <a:p xmlns:a="http://schemas.openxmlformats.org/drawingml/2006/main">
            <a:r>
              <a:t>- docs/MODELS.md</a:t>
            </a:r>
          </a:p>
          <a:p xmlns:a="http://schemas.openxmlformats.org/drawingml/2006/main">
            <a:r>
              <a:t>- https://docs.mistral.ai/studio-api/conversations/structured-output/custom</a:t>
            </a:r>
          </a:p>
          <a:p xmlns:a="http://schemas.openxmlformats.org/drawingml/2006/main">
            <a:r>
              <a:t>- https://docs.mistral.ai/models/model-selection-guide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precise: exact quote provenance is enforced. Whole-answer entailment and complete material-claim citation coverage are not yet guaranteed.</a:t>
            </a:r>
          </a:p>
          <a:p xmlns:a="http://schemas.openxmlformats.org/drawingml/2006/main">
            <a:r>
              <a:t>This is the strongest ML discussion point: separate what the model proposes from what deterministic controls can prove.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src/core/citations/validate.ts</a:t>
            </a:r>
          </a:p>
          <a:p xmlns:a="http://schemas.openxmlformats.org/drawingml/2006/main">
            <a:r>
              <a:t>- src/core/ask.ts</a:t>
            </a:r>
          </a:p>
          <a:p xmlns:a="http://schemas.openxmlformats.org/drawingml/2006/main">
            <a:r>
              <a:t>- docs/MODELS.md</a:t>
            </a:r>
          </a:p>
          <a:p xmlns:a="http://schemas.openxmlformats.org/drawingml/2006/main">
            <a:r>
              <a:t>- https://docs.mistral.ai/studio-api/conversations/structured-output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testable business hypothesis: reduce median pre-maintenance evidence-review time by at least 50 percent without increasing unsafe or unsupported conclusions.</a:t>
            </a:r>
          </a:p>
          <a:p xmlns:a="http://schemas.openxmlformats.org/drawingml/2006/main">
            <a:r>
              <a:t>Promotion targets in the production hypothesis are gates, not achieved metrics.</a:t>
            </a:r>
          </a:p>
          <a:p xmlns:a="http://schemas.openxmlformats.org/drawingml/2006/main">
            <a:r>
              <a:t>At scale, route simple Q&amp;A to a smaller model; reserve stronger reasoning for readiness or conflict-heavy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docs/PRODUCTION_HYPOTHESIS.md</a:t>
            </a:r>
          </a:p>
          <a:p xmlns:a="http://schemas.openxmlformats.org/drawingml/2006/main">
            <a:r>
              <a:t>- docs/MODELS.md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customer promise: ORI shortens the path to a defensible answer while keeping authority with qualified personnel.</a:t>
            </a:r>
          </a:p>
          <a:p xmlns:a="http://schemas.openxmlformats.org/drawingml/2006/main">
            <a:r>
              <a:t>Invite deeper questions on retrieval, evaluation, Mistral model choices, deployment, and failure modes.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docs/INTERVIEW_GUIDE.md</a:t>
            </a:r>
          </a:p>
          <a:p xmlns:a="http://schemas.openxmlformats.org/drawingml/2006/main">
            <a:r>
              <a:t>- docs/PRODUCTION_HYPOTHESIS.md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762c77960945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f1f40248ca46f2" /><Relationship Type="http://schemas.openxmlformats.org/officeDocument/2006/relationships/slideLayout" Target="/ppt/slideLayouts/slideLayout1.xml" Id="R09669a43efb74f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669a43efb74f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76e590c2d411f" /><Relationship Type="http://schemas.openxmlformats.org/officeDocument/2006/relationships/notesSlide" Target="/ppt/notesSlides/notesSlide1.xml" Id="R3e9e37efbfda45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a8ed356144999" /><Relationship Type="http://schemas.openxmlformats.org/officeDocument/2006/relationships/notesSlide" Target="/ppt/notesSlides/notesSlide2.xml" Id="R9d7fedd0c7ac49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a8baf3d564032" /><Relationship Type="http://schemas.openxmlformats.org/officeDocument/2006/relationships/notesSlide" Target="/ppt/notesSlides/notesSlide3.xml" Id="R714ec6544be84f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fdc753d624e0a" /><Relationship Type="http://schemas.openxmlformats.org/officeDocument/2006/relationships/notesSlide" Target="/ppt/notesSlides/notesSlide4.xml" Id="R9efe509229c548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12a32cfdb4274" /><Relationship Type="http://schemas.openxmlformats.org/officeDocument/2006/relationships/notesSlide" Target="/ppt/notesSlides/notesSlide5.xml" Id="R460128cd5de04d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88d8cce654531" /><Relationship Type="http://schemas.openxmlformats.org/officeDocument/2006/relationships/notesSlide" Target="/ppt/notesSlides/notesSlide6.xml" Id="Rd58a42852c3940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781e208ba422e" /><Relationship Type="http://schemas.openxmlformats.org/officeDocument/2006/relationships/notesSlide" Target="/ppt/notesSlides/notesSlide7.xml" Id="Rc668efb2256b4a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62e9fd0f14853" /><Relationship Type="http://schemas.openxmlformats.org/officeDocument/2006/relationships/notesSlide" Target="/ppt/notesSlides/notesSlide8.xml" Id="R711e00a50e944d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64C288BC-5A7E-4E5F-AAA2-BD5BCAA5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Operational Readiness
Intelligence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A22BB44-B658-44EA-86D5-76BE0985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Evidence-grounded answers for high-consequence maintenance decisions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2D3F10C-5BB1-4D4B-820E-2E713A99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MISTRAL TECHNICAL CHALLENGE</a:t>
            </a:r>
          </a:p>
        </p:txBody>
      </p:sp>
    </p:spTree>
    <p:extLst>
      <p:ext uri="{BB962C8B-B14F-4D97-AF65-F5344CB8AC3E}">
        <p14:creationId xmlns:p14="http://schemas.microsoft.com/office/powerpoint/2010/main" val="11351491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0C77742-93D2-47CD-B3DA-973BF90A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3DD0EA5-F5BB-4ED8-9003-82A05CCC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bottleneck is evidence judgment—not document search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3B611FA8-5CE9-4AA7-BC9B-5F7DA46F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5D43D16-E6EC-4157-90BD-1B64016D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Search finds
relevant text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831F599C-562A-4344-987A-A7497D12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Current and relevant?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Complete enough?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Internally consistent?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FB2741B8-BBE2-4B5C-A8D8-409E05C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CC529590-46AB-4A52-820D-6D7C5327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ORI judges
evidence state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35DB35B-755E-4CC7-AC3A-AA258D77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Supported or partial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Conflicting or insufficient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Cited and reviewable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FF7166F-2F49-4AE4-AD49-F9BE74BF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BUSINESS PROBLEM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Procedures, inspection reports, corrective actions, permits, and maintenance records disagree, age, and go missing.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Teams need a defensible answer before critical work starts.</a:t>
            </a:r>
          </a:p>
        </p:txBody>
      </p:sp>
    </p:spTree>
    <p:extLst>
      <p:ext uri="{BB962C8B-B14F-4D97-AF65-F5344CB8AC3E}">
        <p14:creationId xmlns:p14="http://schemas.microsoft.com/office/powerpoint/2010/main" val="19142353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5B7C7EF-F606-4754-9A70-0E4D17D5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A676AE5-5BAF-40DB-B80F-020437E7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question exposes the real operational risk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98BC97F1-7D04-4D47-BE6E-4780E435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 Compressor C-101 ready
for planned maintenance?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B1C08AC-72B4-4635-9451-60E358A8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Conflicting revisions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E1D8FD24-0DBB-4601-A3CF-7F8D9500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308EC29E-B88A-4EBE-BCD6-1D26C6EB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retrieved record contains two SP-204 revisions, an open inspection finding, an overdue corrective action, and missing permit/isolation evidence.
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ORI returns CONFLICTING_EVIDENCE with exact quotes and human verification steps—not a false go/no-go decision.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8D7E90A-A543-43DB-95E7-3CB46BCB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 inspection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CD230A05-4E73-49A0-8485-820D9373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393537F9-48EF-4451-9D61-2EAA99E6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Overdue action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91EAF9F2-E874-42BE-879F-64EEC21A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7DE6103B-61FA-4B93-9E25-FEC926CB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Missing permits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D778AA51-FC50-403F-9FB7-AB171CD6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3DFACE36-0984-4817-879F-0898554C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 sign-off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879FCBAF-7923-44DE-84F4-4AD6FF9A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9849391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89DB8EB-77E8-4025-A79F-1F48B096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AEB02EC-E520-4551-946A-09730015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small, inspectable RAG pipeline separates concerns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A9AD70A-F7BD-4BC4-83EA-8277BE09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C72B393-A9BF-4FF4-8F19-A4A5636A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D9BB786-AA92-44EA-A2CD-02948093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25521195-4997-4E7B-A2AD-A2FC3102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 INGEST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0BB6890-9402-4C34-ABCC-29C75114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 RETRIEVE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0EDF4C9-132A-4789-A61E-04F84912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 ANSWER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8A8F7FA-5AEA-47FF-BF69-1591A7E1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Vector + lexical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Merge candidates, filter corpus scope, deduplicate, and assemble evidence with stable chunk IDs.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FBA0E68-8968-442A-8735-EBD78E63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Mistral OCR + chunks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Preserve page provenance, hash content, embed once, and isolate each corpus namespace.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E64A0C68-095B-48A7-A6A1-D23A0A37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Mistral + controls
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Generate a bounded schema, verify exact quotes, reconcile conflicts, and return a typed status.</a:t>
            </a:r>
          </a:p>
        </p:txBody>
      </p:sp>
    </p:spTree>
    <p:extLst>
      <p:ext uri="{BB962C8B-B14F-4D97-AF65-F5344CB8AC3E}">
        <p14:creationId xmlns:p14="http://schemas.microsoft.com/office/powerpoint/2010/main" val="8365853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302F5AFB-33BC-4831-9D0F-85E0E907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2566577-F44E-4415-B511-C2775EFA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C5079343-8B27-4343-AD20-F3EF0A6E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F01E58D4-CF64-4EAA-93CA-89BA0FD1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A1D9412-0889-4DE7-85E7-B5C1905D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hardened live path now completes with useful evidence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71DA968-4914-4FE9-9B98-B9865409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end-to-end
latency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D40A286-8A5D-4E45-918F-FD3B24F8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retrieved
chunks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DF42F4CF-C813-4760-913A-B0B8FA79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exact citations
verified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E7E71A4-B1DB-4C77-974A-3465D845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24.9 s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80C6594-ED10-447C-B6EA-D6934D2A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 / 8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24D4726-7A39-447F-A019-9FB1A08D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1D6BC1A-9674-42DF-93A6-FDEEF080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OBSERVED REFERENCE RUN — 2026-08-01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live readiness query against the deployed synthetic corpus. These are observations, not production SLO claims.</a:t>
            </a:r>
          </a:p>
        </p:txBody>
      </p:sp>
    </p:spTree>
    <p:extLst>
      <p:ext uri="{BB962C8B-B14F-4D97-AF65-F5344CB8AC3E}">
        <p14:creationId xmlns:p14="http://schemas.microsoft.com/office/powerpoint/2010/main" val="3102386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07946C5-288B-473F-B46E-F02FC02D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F779BEE-189D-4F99-A5AC-ABD52448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Trust is a product boundary, not a prompt promise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184C0288-C6FE-4F86-9F93-BF929F5D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4B32EDA-2902-4675-A445-D01A6C53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Enforced now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C7132133-E0DE-4CDA-847D-5F25274F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Exact quote provenance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Corpus-scoped retrieval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Structural conflict checks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72B79DCF-3130-4978-8054-05B1D8CC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364FB865-2F7D-4440-927B-C69C9E58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Production gate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8A0910D-39C7-4E08-B2BA-988E1E4A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Claim-level entailment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Recall and status calibration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• RBAC, audit, retention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3498D61-7DA0-4151-B55C-D493079B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WHAT THE PROTOTYPE CAN PROVE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accepted citation points to a retrieved chunk and quotes text that appears in that chunk after narrow normalization.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checks may downgrade model status when citations fail or revision conflicts are detected.</a:t>
            </a:r>
          </a:p>
        </p:txBody>
      </p:sp>
    </p:spTree>
    <p:extLst>
      <p:ext uri="{BB962C8B-B14F-4D97-AF65-F5344CB8AC3E}">
        <p14:creationId xmlns:p14="http://schemas.microsoft.com/office/powerpoint/2010/main" val="6117376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C436947-A7D2-4881-8930-2315E666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A6299A5-F8B1-4EDB-94F1-BF66E0D7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Scale the hypothesis through a gated six-week pilot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BA5E4938-9C78-4762-8ADD-1F4F5F9F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BE8207D-9D4E-4EF2-9F93-5CB2884F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7B359AF-8C01-4CC4-8735-5C2DE068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22B92C05-7D49-4A18-B22F-80C6B465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A59FEF88-9EF8-4E66-88F1-D4078370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Offline evidence benchmark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gold relevance sets, contradiction cases, and abstention examples. Gate on retrieval recall, status F1, citation validity, and failure behavior.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AA2B3A56-12F1-4D40-AA98-CDCA2CC3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B3E51369-C33E-4BD2-9481-C2E00CB9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Shadow real reviews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alongside qualified reviewers. Measure disagreement, freshness failures, latency, cost, and the actions reviewers take after seeing evidence.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DF43443C-353E-4BE8-B550-A77D32B1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BCB0DD9B-41EB-414E-A3C0-2ACC6304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Assisted workflow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Expose answers to a limited cohort with audit logs, tenant isolation, kill switches, and mandatory human authorization for work decisions.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584D5999-92DF-4433-8E92-DA5C05BB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WEEKS 3–4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880EDD98-82D7-4815-99D5-9F8D9B10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WEEKS 1–2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7D475991-FB6E-4559-A2DC-E6695EE9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WEEKS 5–6</a:t>
            </a:r>
          </a:p>
        </p:txBody>
      </p:sp>
    </p:spTree>
    <p:extLst>
      <p:ext uri="{BB962C8B-B14F-4D97-AF65-F5344CB8AC3E}">
        <p14:creationId xmlns:p14="http://schemas.microsoft.com/office/powerpoint/2010/main" val="10363673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FE18998-C042-4C5E-8E60-4409C5CD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Faster review.
Defensible evidence.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AD4A0E4-E235-429B-ADE3-E9DBAA8B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Mistral, end to end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Uncertainty made explicit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path to production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5DB8873-374D-4AF0-91B1-C6640D61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ORI</a:t>
            </a:r>
          </a:p>
        </p:txBody>
      </p:sp>
    </p:spTree>
    <p:extLst>
      <p:ext uri="{BB962C8B-B14F-4D97-AF65-F5344CB8AC3E}">
        <p14:creationId xmlns:p14="http://schemas.microsoft.com/office/powerpoint/2010/main" val="4098058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2026-08-01T15:38:34.3530000Z</dcterms:created>
  <dcterms:modified xsi:type="dcterms:W3CDTF">2026-08-01T15:38:34.3530000Z</dcterms:modified>
</coreProperties>
</file>